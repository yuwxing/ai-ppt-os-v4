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53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E76CC-A640-4411-8213-16AB6CA06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E0CDAC-C1EE-4480-B89E-E7E5E1968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A4F982-8CA4-49B6-9438-E84BF880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AAD0E3-C949-4CB5-9A3F-2A66B3CEB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F3CCC6-58F0-4534-B5B1-EB9D2923D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202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DBDE16-9667-455F-B348-DB09C5A57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4D8017-7064-4BFF-9DF7-569B5EC1F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0CF9DD-53E1-4A8D-B419-685123F8B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4D0B2C-6452-43F6-AA07-7D4346BBE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9A90C9-DF66-4EB9-BDA9-4AC93D63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418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18C0A-786E-4E29-9D97-72E14B602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02CC80-AC92-4CC9-8F70-B508D4004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C32223-D9DA-4408-938D-45F248A77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95A213-70AC-4596-AB06-DA61B0FD4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F3DFFE-EF1A-4074-9F05-35218BAD8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657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B10F65-BDD1-4140-B4E8-B467AD49A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B76B4C-0DB1-4816-9DCB-1BBB6548A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47B8B3-E9F5-4BE2-9C7C-4518BE7A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17F7B8-61FA-4AD8-AF17-6100BBB39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9C512E-99D6-483C-8ADB-95BB01D43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D8FFD6-5BFD-4A60-A29A-0521D4AF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707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A1707E-3CAF-4BC8-9B5A-26D08E755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F6E27D-23C7-4CD6-926A-77E3DC9A8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0929E7-ED78-4F18-89C1-BBDAA2900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9DE61A-1AC8-4190-99F2-64DBCEEDE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90E7CF-F1F2-49DE-B3EA-D3B3201DC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98C6C68-A89C-4FA2-AC52-51CA280FB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E09AF85-BBB7-4645-9C73-088266E49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CCB8B9-1A7D-487A-A4E1-5FEC16DD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16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1D7C25-6E96-480C-8953-7B5CCF2AD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F02CE4-BCBE-4CB6-BCDF-1A43B30C7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1DF14D-E34D-418F-B508-C00B482D6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0FD5DE-78DA-42E1-A756-E50D3510B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608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764428-0E41-4A2D-B530-9E88BA850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91AD15-C515-4B19-A7B1-7CD0C9B0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3807C8-C8E2-4DCB-AE22-71557C4B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972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DD0D7-5653-4BFB-9310-715314677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66E7CC-A2C3-40AD-9558-941AB061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898CC-12FA-458E-8836-96AF4DD5F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F4F411-6CB8-4454-8636-19D133342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66D61E-DB69-4184-B5D2-6C2FC6F36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D740B0-662D-4A3E-942C-AECE4DB48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493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A1627-60CA-45D7-BEBA-2A91332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3945D4A-AB90-47A5-8247-2D00E87E3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A53DD4-D011-47A8-9FA4-F96D3B80F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084498-CFC8-400B-ABAA-BBC1B4F1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1752E6-7068-401C-9C91-154E394FD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559BCD-B528-47DE-BE3B-F33A51B9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566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EACE5-242F-4E75-B0B8-12E780312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C7D474-CD8B-4D75-AA1A-6D70D00F7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79C2F4-F369-4AED-A509-A2033110F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659DB5-C482-4E1D-A9F0-A0A7372B1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2564AD-6081-4AEF-BD21-7FD0F8092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311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L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F1B49-27A5-4E28-92EB-6D9F5697C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778000"/>
            <a:ext cx="10363200" cy="1193800"/>
          </a:xfrm>
        </p:spPr>
        <p:txBody>
          <a:bodyPr wrap="square">
            <a:normAutofit/>
          </a:bodyPr>
          <a:lstStyle>
            <a:lvl1pPr algn="ctr">
              <a:defRPr sz="54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B47B1C6-ECA3-42EB-A28E-DF2ECC92C1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460500" y="3124200"/>
            <a:ext cx="9258300" cy="774700"/>
          </a:xfrm>
        </p:spPr>
        <p:txBody>
          <a:bodyPr wrap="square">
            <a:noAutofit/>
          </a:bodyPr>
          <a:lstStyle>
            <a:lvl1pPr algn="ctr">
              <a:defRPr sz="2600" b="0">
                <a:solidFill>
                  <a:srgbClr val="5A6470"/>
                </a:solidFill>
                <a:latin typeface="Microsoft YaHei" panose="020B0503020204020204" pitchFamily="34" charset="-122"/>
              </a:defRPr>
            </a:lvl1pPr>
            <a:lvl2pPr algn="ctr">
              <a:defRPr sz="2600" b="0">
                <a:solidFill>
                  <a:srgbClr val="5A6470"/>
                </a:solidFill>
                <a:latin typeface="Microsoft YaHei" panose="020B0503020204020204" pitchFamily="34" charset="-122"/>
              </a:defRPr>
            </a:lvl2pPr>
            <a:lvl3pPr algn="ctr">
              <a:defRPr sz="2600" b="0">
                <a:solidFill>
                  <a:srgbClr val="5A6470"/>
                </a:solidFill>
                <a:latin typeface="Microsoft YaHei" panose="020B0503020204020204" pitchFamily="34" charset="-122"/>
              </a:defRPr>
            </a:lvl3pPr>
            <a:lvl4pPr algn="ctr">
              <a:defRPr sz="2600" b="0">
                <a:solidFill>
                  <a:srgbClr val="5A6470"/>
                </a:solidFill>
                <a:latin typeface="Microsoft YaHei" panose="020B0503020204020204" pitchFamily="34" charset="-122"/>
              </a:defRPr>
            </a:lvl4pPr>
            <a:lvl5pPr algn="ctr">
              <a:defRPr sz="2600" b="0">
                <a:solidFill>
                  <a:srgbClr val="5A6470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98D46F32-AFF1-4978-A7EE-03B06A613E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67200" y="4165600"/>
            <a:ext cx="3657600" cy="19177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20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_Title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00B6D-D183-41BF-A5C6-B404B21CC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909300" cy="914400"/>
          </a:xfrm>
        </p:spPr>
        <p:txBody>
          <a:bodyPr wrap="square">
            <a:normAutofit/>
          </a:bodyPr>
          <a:lstStyle>
            <a:lvl1pPr algn="l">
              <a:defRPr sz="38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D24A3B3-2E80-4B15-80F9-81EA496F34B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5000" y="1587500"/>
            <a:ext cx="10909300" cy="4724400"/>
          </a:xfrm>
        </p:spPr>
        <p:txBody>
          <a:bodyPr wrap="square">
            <a:normAutofit/>
          </a:bodyPr>
          <a:lstStyle>
            <a:lvl1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1pPr>
            <a:lvl2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2pPr>
            <a:lvl3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3pPr>
            <a:lvl4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4pPr>
            <a:lvl5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705981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_Title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1E06D-394E-4136-95A3-A404FBC0F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909300" cy="914400"/>
          </a:xfrm>
        </p:spPr>
        <p:txBody>
          <a:bodyPr wrap="square">
            <a:normAutofit/>
          </a:bodyPr>
          <a:lstStyle>
            <a:lvl1pPr algn="l">
              <a:defRPr sz="38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DCDC95C-D4C8-4430-A405-C5BA19B0AFC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5000" y="1587500"/>
            <a:ext cx="6261100" cy="4724400"/>
          </a:xfrm>
        </p:spPr>
        <p:txBody>
          <a:bodyPr wrap="square">
            <a:normAutofit/>
          </a:bodyPr>
          <a:lstStyle>
            <a:lvl1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1pPr>
            <a:lvl2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2pPr>
            <a:lvl3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3pPr>
            <a:lvl4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4pPr>
            <a:lvl5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BF5F89C3-22F9-4D18-A36E-1E8E819D98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51700" y="1587500"/>
            <a:ext cx="4292600" cy="44831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6763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_Two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A006C-726B-4AD9-908C-971C4525E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909300" cy="914400"/>
          </a:xfrm>
        </p:spPr>
        <p:txBody>
          <a:bodyPr wrap="square">
            <a:normAutofit/>
          </a:bodyPr>
          <a:lstStyle>
            <a:lvl1pPr algn="l">
              <a:defRPr sz="38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53634E7-419F-4B87-99C8-85D868EB475A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5000" y="1587500"/>
            <a:ext cx="5295900" cy="4724400"/>
          </a:xfrm>
        </p:spPr>
        <p:txBody>
          <a:bodyPr wrap="square">
            <a:normAutofit/>
          </a:bodyPr>
          <a:lstStyle>
            <a:lvl1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1pPr>
            <a:lvl2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2pPr>
            <a:lvl3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3pPr>
            <a:lvl4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4pPr>
            <a:lvl5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53F2B3C-92DB-4383-A05E-B9B46D89FB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8400" y="1587500"/>
            <a:ext cx="5295900" cy="4724400"/>
          </a:xfrm>
          <a:prstGeom prst="rect">
            <a:avLst/>
          </a:prstGeom>
        </p:spPr>
        <p:txBody>
          <a:bodyPr wrap="square"/>
          <a:lstStyle>
            <a:lvl1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1pPr>
            <a:lvl2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2pPr>
            <a:lvl3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3pPr>
            <a:lvl4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4pPr>
            <a:lvl5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98265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_Exerc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8E8C0-B23B-436A-A647-A0D6B0612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909300" cy="914400"/>
          </a:xfrm>
        </p:spPr>
        <p:txBody>
          <a:bodyPr wrap="square">
            <a:normAutofit/>
          </a:bodyPr>
          <a:lstStyle>
            <a:lvl1pPr algn="l">
              <a:defRPr sz="38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7F7EC32-9830-4843-AAA2-5F35D7336AE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5000" y="1587500"/>
            <a:ext cx="10909300" cy="2794000"/>
          </a:xfrm>
        </p:spPr>
        <p:txBody>
          <a:bodyPr wrap="square">
            <a:normAutofit/>
          </a:bodyPr>
          <a:lstStyle>
            <a:lvl1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1pPr>
            <a:lvl2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2pPr>
            <a:lvl3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3pPr>
            <a:lvl4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4pPr>
            <a:lvl5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9D60182-EDE4-4C60-A206-CB189CA12B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4559300"/>
            <a:ext cx="10909300" cy="1752600"/>
          </a:xfrm>
          <a:prstGeom prst="rect">
            <a:avLst/>
          </a:prstGeom>
        </p:spPr>
        <p:txBody>
          <a:bodyPr wrap="square"/>
          <a:lstStyle>
            <a:lvl1pPr algn="l">
              <a:defRPr sz="2600" b="1">
                <a:solidFill>
                  <a:srgbClr val="0F6B34"/>
                </a:solidFill>
                <a:latin typeface="Microsoft YaHei" panose="020B0503020204020204" pitchFamily="34" charset="-122"/>
              </a:defRPr>
            </a:lvl1pPr>
            <a:lvl2pPr algn="l">
              <a:defRPr sz="2600" b="1">
                <a:solidFill>
                  <a:srgbClr val="0F6B34"/>
                </a:solidFill>
                <a:latin typeface="Microsoft YaHei" panose="020B0503020204020204" pitchFamily="34" charset="-122"/>
              </a:defRPr>
            </a:lvl2pPr>
            <a:lvl3pPr algn="l">
              <a:defRPr sz="2600" b="1">
                <a:solidFill>
                  <a:srgbClr val="0F6B34"/>
                </a:solidFill>
                <a:latin typeface="Microsoft YaHei" panose="020B0503020204020204" pitchFamily="34" charset="-122"/>
              </a:defRPr>
            </a:lvl3pPr>
            <a:lvl4pPr algn="l">
              <a:defRPr sz="2600" b="1">
                <a:solidFill>
                  <a:srgbClr val="0F6B34"/>
                </a:solidFill>
                <a:latin typeface="Microsoft YaHei" panose="020B0503020204020204" pitchFamily="34" charset="-122"/>
              </a:defRPr>
            </a:lvl4pPr>
            <a:lvl5pPr algn="l">
              <a:defRPr sz="2600" b="1">
                <a:solidFill>
                  <a:srgbClr val="0F6B34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24845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_Vocab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32B9-4740-4BB5-9390-E3BEE35B2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909300" cy="914400"/>
          </a:xfrm>
        </p:spPr>
        <p:txBody>
          <a:bodyPr wrap="square">
            <a:normAutofit/>
          </a:bodyPr>
          <a:lstStyle>
            <a:lvl1pPr algn="l">
              <a:defRPr sz="38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6557C8B8-F4E3-47DB-9255-4848FFCADFCA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35000" y="1587500"/>
            <a:ext cx="3644900" cy="14859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3E20F740-1270-40CB-904C-898FA2BA8D5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67200" y="1587500"/>
            <a:ext cx="3644900" cy="1485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7">
            <a:extLst>
              <a:ext uri="{FF2B5EF4-FFF2-40B4-BE49-F238E27FC236}">
                <a16:creationId xmlns:a16="http://schemas.microsoft.com/office/drawing/2014/main" id="{CAEC8A52-F582-42B5-ABE0-F7E0B75C0D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99400" y="1587500"/>
            <a:ext cx="3644900" cy="1485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8">
            <a:extLst>
              <a:ext uri="{FF2B5EF4-FFF2-40B4-BE49-F238E27FC236}">
                <a16:creationId xmlns:a16="http://schemas.microsoft.com/office/drawing/2014/main" id="{BEE0587B-1E13-42BD-8100-75B6F6D096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5000" y="3949700"/>
            <a:ext cx="3644900" cy="1485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00FA368C-0619-4FDF-A91B-FDB33E01E9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67200" y="3949700"/>
            <a:ext cx="3644900" cy="1485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4F1A8C19-D90A-4F57-AA3A-A847C384724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99400" y="3949700"/>
            <a:ext cx="3644900" cy="1485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55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_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60DA8-3642-4271-A0F1-6549C4C74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909300" cy="914400"/>
          </a:xfrm>
        </p:spPr>
        <p:txBody>
          <a:bodyPr wrap="square">
            <a:normAutofit/>
          </a:bodyPr>
          <a:lstStyle>
            <a:lvl1pPr algn="l">
              <a:defRPr sz="38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945AFA1-66C5-43EF-B53D-E6293EC1CF3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5000" y="1587500"/>
            <a:ext cx="6946900" cy="4724400"/>
          </a:xfrm>
        </p:spPr>
        <p:txBody>
          <a:bodyPr wrap="square">
            <a:normAutofit/>
          </a:bodyPr>
          <a:lstStyle>
            <a:lvl1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1pPr>
            <a:lvl2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2pPr>
            <a:lvl3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3pPr>
            <a:lvl4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4pPr>
            <a:lvl5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媒体占位符 6">
            <a:extLst>
              <a:ext uri="{FF2B5EF4-FFF2-40B4-BE49-F238E27FC236}">
                <a16:creationId xmlns:a16="http://schemas.microsoft.com/office/drawing/2014/main" id="{44021501-4F36-4C82-8758-0ED6AF6F257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7924800" y="1587500"/>
            <a:ext cx="3632200" cy="2374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3394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L_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A274F0-AB63-44BB-9C76-CE5F557FF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108200"/>
            <a:ext cx="10363200" cy="1282700"/>
          </a:xfrm>
        </p:spPr>
        <p:txBody>
          <a:bodyPr wrap="square">
            <a:normAutofit/>
          </a:bodyPr>
          <a:lstStyle>
            <a:lvl1pPr algn="ctr">
              <a:defRPr sz="46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94BAAEE-68B2-412F-A05D-8C08148B94A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460500" y="3568700"/>
            <a:ext cx="9258300" cy="1739900"/>
          </a:xfrm>
        </p:spPr>
        <p:txBody>
          <a:bodyPr wrap="square">
            <a:noAutofit/>
          </a:bodyPr>
          <a:lstStyle>
            <a:lvl1pPr algn="ctr">
              <a:defRPr sz="3000" b="1">
                <a:solidFill>
                  <a:srgbClr val="E2601A"/>
                </a:solidFill>
                <a:latin typeface="Microsoft YaHei" panose="020B0503020204020204" pitchFamily="34" charset="-122"/>
              </a:defRPr>
            </a:lvl1pPr>
            <a:lvl2pPr algn="ctr">
              <a:defRPr sz="3000" b="1">
                <a:solidFill>
                  <a:srgbClr val="E2601A"/>
                </a:solidFill>
                <a:latin typeface="Microsoft YaHei" panose="020B0503020204020204" pitchFamily="34" charset="-122"/>
              </a:defRPr>
            </a:lvl2pPr>
            <a:lvl3pPr algn="ctr">
              <a:defRPr sz="3000" b="1">
                <a:solidFill>
                  <a:srgbClr val="E2601A"/>
                </a:solidFill>
                <a:latin typeface="Microsoft YaHei" panose="020B0503020204020204" pitchFamily="34" charset="-122"/>
              </a:defRPr>
            </a:lvl3pPr>
            <a:lvl4pPr algn="ctr">
              <a:defRPr sz="3000" b="1">
                <a:solidFill>
                  <a:srgbClr val="E2601A"/>
                </a:solidFill>
                <a:latin typeface="Microsoft YaHei" panose="020B0503020204020204" pitchFamily="34" charset="-122"/>
              </a:defRPr>
            </a:lvl4pPr>
            <a:lvl5pPr algn="ctr">
              <a:defRPr sz="3000" b="1">
                <a:solidFill>
                  <a:srgbClr val="E260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8496917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6519FB-29C3-4538-B1CF-3FE33F74C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F95975-8374-450B-9461-60A40689F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070457-B26B-4E71-89D1-4DEF6CB3B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AF687B-49CE-46EE-B396-D827808D5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E3B070-8304-4D11-8BE5-C47397A3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873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8717DB-0FA9-4583-8F54-EFB2A064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BC8290-6040-4482-985D-D296B20B7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D0D984-E274-4BCC-98B4-AD0DE4F60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1FFE26-3F54-495C-BF3A-CCE447389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DDB40E-7811-4DA0-A938-E50B76344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D8FBC7-F233-4269-BAC5-39F7B39F00A8}"/>
              </a:ext>
            </a:extLst>
          </p:cNvPr>
          <p:cNvSpPr/>
          <p:nvPr userDrawn="1"/>
        </p:nvSpPr>
        <p:spPr>
          <a:xfrm>
            <a:off x="635000" y="1320800"/>
            <a:ext cx="10909300" cy="38100"/>
          </a:xfrm>
          <a:prstGeom prst="rect">
            <a:avLst/>
          </a:prstGeom>
          <a:solidFill>
            <a:srgbClr val="1239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A8AA5F-EFC9-4BA1-8318-7D77A5A11D49}"/>
              </a:ext>
            </a:extLst>
          </p:cNvPr>
          <p:cNvSpPr/>
          <p:nvPr userDrawn="1"/>
        </p:nvSpPr>
        <p:spPr>
          <a:xfrm>
            <a:off x="635000" y="6451600"/>
            <a:ext cx="508000" cy="63500"/>
          </a:xfrm>
          <a:prstGeom prst="rect">
            <a:avLst/>
          </a:prstGeom>
          <a:solidFill>
            <a:srgbClr val="E260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75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5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54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Eat Well!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ctr">
              <a:lnSpc>
                <a:spcPct val="132000"/>
              </a:lnSpc>
              <a:spcAft>
                <a:spcPts val="800"/>
              </a:spcAft>
              <a:buNone/>
            </a:pPr>
            <a:r>
              <a:rPr sz="26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健康饮食 · 人教版七下 Unit 4 · 成为健康饮食倡导者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TextBox 4"/>
          <p:cNvSpPr txBox="1"/>
          <p:nvPr/>
        </p:nvSpPr>
        <p:spPr>
          <a:xfrm>
            <a:off x="8778240" y="614476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2000"/>
              </a:lnSpc>
              <a:spcAft>
                <a:spcPts val="800"/>
              </a:spcAft>
              <a:buNone/>
            </a:pPr>
            <a:r>
              <a:rPr sz="15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授课教师：FannyWu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5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学习目标  Learning 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5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1.  掌握食物与饮食类核心词汇，能区分可数 / 不可数名词（Grammar Focus）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5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2.  能在餐厅、食堂等真实场景询问并表达饮食偏好（交际策略）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5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3.  分析不良饮食习惯，反思自身行为并制定改善计划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5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4.  辨析常见饮食误区，借助平衡膳食宝塔树立科学饮食观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5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5.  融合多学科完成“成为健康饮食倡导者”项目，培养跨学科与数字素养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话题导入  Lead-in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?  你今天吃了什么？它健康吗？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?  中外饮食偏好有什么不同？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?  你想成为健康饮食的倡导者吗？</a:t>
            </a:r>
          </a:p>
          <a:p>
            <a:pPr algn="l">
              <a:lnSpc>
                <a:spcPct val="132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sz="21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本单元我们将从“感知饮食偏好 → 表达饮食偏好 → 理解饮食语法 → 分析饮食习惯 → 反思与改善 → 辨析饮食误区”六个台阶，一步步成为健康饮食的倡导者（Becoming a Healthy Eating Advocate）。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/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Task 1  ·  核心食物与饮品词汇库（语篇一）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9" name="TextBox 8"/>
          <p:cNvSpPr txBox="1"/>
          <p:nvPr/>
        </p:nvSpPr>
        <p:spPr>
          <a:xfrm>
            <a:off x="640080" y="3127248"/>
            <a:ext cx="3648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  <a:spcAft>
                <a:spcPts val="200"/>
              </a:spcAft>
              <a:buNone/>
            </a:pPr>
            <a:r>
              <a:rPr sz="23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vegetable</a:t>
            </a:r>
          </a:p>
          <a:p>
            <a:pPr algn="ctr">
              <a:lnSpc>
                <a:spcPct val="132000"/>
              </a:lnSpc>
              <a:spcAft>
                <a:spcPts val="0"/>
              </a:spcAft>
              <a:buNone/>
            </a:pPr>
            <a:r>
              <a:rPr sz="18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蔬菜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3127248"/>
            <a:ext cx="3648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  <a:spcAft>
                <a:spcPts val="200"/>
              </a:spcAft>
              <a:buNone/>
            </a:pPr>
            <a:r>
              <a:rPr sz="23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fruit</a:t>
            </a:r>
          </a:p>
          <a:p>
            <a:pPr algn="ctr">
              <a:lnSpc>
                <a:spcPct val="132000"/>
              </a:lnSpc>
              <a:spcAft>
                <a:spcPts val="0"/>
              </a:spcAft>
              <a:buNone/>
            </a:pPr>
            <a:r>
              <a:rPr sz="18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水果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0416" y="3127248"/>
            <a:ext cx="3648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  <a:spcAft>
                <a:spcPts val="200"/>
              </a:spcAft>
              <a:buNone/>
            </a:pPr>
            <a:r>
              <a:rPr sz="23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grain / rice</a:t>
            </a:r>
          </a:p>
          <a:p>
            <a:pPr algn="ctr">
              <a:lnSpc>
                <a:spcPct val="132000"/>
              </a:lnSpc>
              <a:spcAft>
                <a:spcPts val="0"/>
              </a:spcAft>
              <a:buNone/>
            </a:pPr>
            <a:r>
              <a:rPr sz="18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谷物 / 米饭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86400"/>
            <a:ext cx="3648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  <a:spcAft>
                <a:spcPts val="200"/>
              </a:spcAft>
              <a:buNone/>
            </a:pPr>
            <a:r>
              <a:rPr sz="23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meat / beef</a:t>
            </a:r>
          </a:p>
          <a:p>
            <a:pPr algn="ctr">
              <a:lnSpc>
                <a:spcPct val="132000"/>
              </a:lnSpc>
              <a:spcAft>
                <a:spcPts val="0"/>
              </a:spcAft>
              <a:buNone/>
            </a:pPr>
            <a:r>
              <a:rPr sz="18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肉类 / 牛肉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5486400"/>
            <a:ext cx="3648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  <a:spcAft>
                <a:spcPts val="200"/>
              </a:spcAft>
              <a:buNone/>
            </a:pPr>
            <a:r>
              <a:rPr sz="23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milk / egg</a:t>
            </a:r>
          </a:p>
          <a:p>
            <a:pPr algn="ctr">
              <a:lnSpc>
                <a:spcPct val="132000"/>
              </a:lnSpc>
              <a:spcAft>
                <a:spcPts val="0"/>
              </a:spcAft>
              <a:buNone/>
            </a:pPr>
            <a:r>
              <a:rPr sz="18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奶 / 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0416" y="5486400"/>
            <a:ext cx="3648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  <a:spcAft>
                <a:spcPts val="200"/>
              </a:spcAft>
              <a:buNone/>
            </a:pPr>
            <a:r>
              <a:rPr sz="23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junk food</a:t>
            </a:r>
          </a:p>
          <a:p>
            <a:pPr algn="ctr">
              <a:lnSpc>
                <a:spcPct val="132000"/>
              </a:lnSpc>
              <a:spcAft>
                <a:spcPts val="0"/>
              </a:spcAft>
              <a:buNone/>
            </a:pPr>
            <a:r>
              <a:rPr sz="18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垃圾食品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Brain storm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2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healthy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  <a:buNone/>
            </a:pPr>
            <a:r>
              <a:rPr sz="19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健康的</a:t>
            </a:r>
          </a:p>
          <a:p>
            <a:pPr algn="l">
              <a:lnSpc>
                <a:spcPct val="132000"/>
              </a:lnSpc>
              <a:spcAft>
                <a:spcPts val="2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unhealthy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  <a:buNone/>
            </a:pPr>
            <a:r>
              <a:rPr sz="19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不健康的</a:t>
            </a:r>
          </a:p>
          <a:p>
            <a:pPr algn="l">
              <a:lnSpc>
                <a:spcPct val="132000"/>
              </a:lnSpc>
              <a:spcAft>
                <a:spcPts val="2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countable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  <a:buNone/>
            </a:pPr>
            <a:r>
              <a:rPr sz="19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可数名词</a:t>
            </a:r>
          </a:p>
          <a:p>
            <a:pPr algn="l">
              <a:lnSpc>
                <a:spcPct val="132000"/>
              </a:lnSpc>
              <a:spcAft>
                <a:spcPts val="2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uncountable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  <a:buNone/>
            </a:pPr>
            <a:r>
              <a:rPr sz="19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不可数名词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2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habit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  <a:buNone/>
            </a:pPr>
            <a:r>
              <a:rPr sz="19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习惯</a:t>
            </a:r>
          </a:p>
          <a:p>
            <a:pPr algn="l">
              <a:lnSpc>
                <a:spcPct val="132000"/>
              </a:lnSpc>
              <a:spcAft>
                <a:spcPts val="2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balance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  <a:buNone/>
            </a:pPr>
            <a:r>
              <a:rPr sz="19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平衡</a:t>
            </a:r>
          </a:p>
          <a:p>
            <a:pPr algn="l">
              <a:lnSpc>
                <a:spcPct val="132000"/>
              </a:lnSpc>
              <a:spcAft>
                <a:spcPts val="2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prefer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  <a:buNone/>
            </a:pPr>
            <a:r>
              <a:rPr sz="19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更喜欢</a:t>
            </a:r>
          </a:p>
          <a:p>
            <a:pPr algn="l">
              <a:lnSpc>
                <a:spcPct val="132000"/>
              </a:lnSpc>
              <a:spcAft>
                <a:spcPts val="2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advocate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  <a:buNone/>
            </a:pPr>
            <a:r>
              <a:rPr sz="19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倡导者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Let's read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6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1.  I like ______ (tomato).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6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2.  He drinks ______ (milk) every day.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6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3.  We need some ______ (egg).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6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4.  There is ______ (bread) on the table.</a:t>
            </a:r>
          </a:p>
        </p:txBody>
      </p:sp>
      <p:sp>
        <p:nvSpPr>
          <p:cNvPr id="4" name="REVEAL_ANSWER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8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答案 / 解析</a:t>
            </a:r>
          </a:p>
          <a:p>
            <a:pPr algn="l">
              <a:lnSpc>
                <a:spcPct val="132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1. 我喜欢西红柿。（可数，变复数 tomatoes）</a:t>
            </a:r>
          </a:p>
          <a:p>
            <a:pPr algn="l">
              <a:lnSpc>
                <a:spcPct val="132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2. 他每天喝牛奶。（不可数，无复数）</a:t>
            </a:r>
          </a:p>
          <a:p>
            <a:pPr algn="l">
              <a:lnSpc>
                <a:spcPct val="132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3. 我们需要一些鸡蛋。（可数，变 eggs）</a:t>
            </a:r>
          </a:p>
          <a:p>
            <a:pPr algn="l">
              <a:lnSpc>
                <a:spcPct val="132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4. 桌上有一些面包。（不可数）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Culture Link  ·  文化链接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8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你知道“中国居民平衡膳食宝塔”吗？一日三餐该怎么搭配才均衡？</a:t>
            </a:r>
          </a:p>
          <a:p>
            <a:pPr algn="l">
              <a:lnSpc>
                <a:spcPct val="132000"/>
              </a:lnSpc>
              <a:spcAft>
                <a:spcPts val="600"/>
              </a:spcAft>
              <a:buNone/>
            </a:pPr>
            <a:r>
              <a:rPr sz="23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谷薯类打底、蔬果占大半、适量鱼禽肉蛋、奶豆加分、油盐最少——宝塔教你吃得均衡！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/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E2601A"/>
                </a:solidFill>
                <a:latin typeface="Microsoft YaHei"/>
                <a:ea typeface="Microsoft YaHei"/>
                <a:cs typeface="Microsoft YaHei"/>
              </a:rPr>
              <a:t>Task 2  ·  Ordering food（食堂选餐 / 餐厅点餐）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200"/>
              </a:spcAft>
              <a:buNone/>
            </a:pPr>
            <a:r>
              <a:rPr sz="26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A:  What would you like to ______ ?</a:t>
            </a:r>
          </a:p>
          <a:p>
            <a:pPr algn="l">
              <a:lnSpc>
                <a:spcPct val="132000"/>
              </a:lnSpc>
              <a:spcAft>
                <a:spcPts val="1200"/>
              </a:spcAft>
              <a:buNone/>
            </a:pPr>
            <a:r>
              <a:rPr sz="26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B:  I'd like some ______ and ______ .</a:t>
            </a:r>
          </a:p>
          <a:p>
            <a:pPr algn="l">
              <a:lnSpc>
                <a:spcPct val="132000"/>
              </a:lnSpc>
              <a:spcAft>
                <a:spcPts val="1200"/>
              </a:spcAft>
              <a:buNone/>
            </a:pPr>
            <a:r>
              <a:rPr sz="26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A:  Would you like something to ______ ?</a:t>
            </a:r>
          </a:p>
          <a:p>
            <a:pPr algn="l">
              <a:lnSpc>
                <a:spcPct val="132000"/>
              </a:lnSpc>
              <a:spcAft>
                <a:spcPts val="1200"/>
              </a:spcAft>
              <a:buNone/>
            </a:pPr>
            <a:r>
              <a:rPr sz="26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B:  Yes, a glass of ______ , please.</a:t>
            </a:r>
          </a:p>
        </p:txBody>
      </p:sp>
      <p:sp>
        <p:nvSpPr>
          <p:cNvPr id="4" name="REVEAL_ANSWER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答案</a:t>
            </a:r>
          </a:p>
          <a:p>
            <a:pPr algn="l">
              <a:lnSpc>
                <a:spcPct val="132000"/>
              </a:lnSpc>
              <a:spcAft>
                <a:spcPts val="4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1. order / eat</a:t>
            </a:r>
          </a:p>
          <a:p>
            <a:pPr algn="l">
              <a:lnSpc>
                <a:spcPct val="132000"/>
              </a:lnSpc>
              <a:spcAft>
                <a:spcPts val="4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2. noodles; vegetables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3. drink</a:t>
            </a:r>
          </a:p>
          <a:p>
            <a:pPr algn="l">
              <a:lnSpc>
                <a:spcPct val="132000"/>
              </a:lnSpc>
              <a:spcAft>
                <a:spcPts val="4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4. milk / juice</a:t>
            </a:r>
          </a:p>
          <a:p>
            <a:pPr algn="l">
              <a:lnSpc>
                <a:spcPct val="13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Tips：补全对话先看上下文与人物关系，再判断词性与单复数形式。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功能表达  Useful Expressions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400" b="1" i="0">
                <a:solidFill>
                  <a:srgbClr val="E2601A"/>
                </a:solidFill>
                <a:latin typeface="Microsoft YaHei"/>
                <a:ea typeface="Microsoft YaHei"/>
                <a:cs typeface="Microsoft YaHei"/>
              </a:rPr>
              <a:t>问  Asking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·  What's your favorite food / drink?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·  Would you like some ... ?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·  Do you prefer ... or ...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400" b="1" i="0">
                <a:solidFill>
                  <a:srgbClr val="E2601A"/>
                </a:solidFill>
                <a:latin typeface="Microsoft YaHei"/>
                <a:ea typeface="Microsoft YaHei"/>
                <a:cs typeface="Microsoft YaHei"/>
              </a:rPr>
              <a:t>答  Answering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·  I'd like / I'd love some ...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·  My favorite is ...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·  I prefer ... because it's healthy.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6B3FA0"/>
                </a:solidFill>
                <a:latin typeface="Microsoft YaHei"/>
                <a:ea typeface="Microsoft YaHei"/>
                <a:cs typeface="Microsoft YaHei"/>
              </a:rPr>
              <a:t>Task 3  ·  Be a Healthy Eating Advocate（项目式）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600"/>
              </a:spcAft>
              <a:buNone/>
            </a:pPr>
            <a:r>
              <a:rPr sz="2000" b="1" i="0">
                <a:solidFill>
                  <a:srgbClr val="E2601A"/>
                </a:solidFill>
                <a:latin typeface="Microsoft YaHei"/>
                <a:ea typeface="Microsoft YaHei"/>
                <a:cs typeface="Microsoft YaHei"/>
              </a:rPr>
              <a:t>限时5mins</a:t>
            </a:r>
          </a:p>
          <a:p>
            <a:pPr algn="l">
              <a:lnSpc>
                <a:spcPct val="132000"/>
              </a:lnSpc>
              <a:spcAft>
                <a:spcPts val="1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·  调研诊断（Lessons 1-2）：用 AI 膳食分析工具记录并评估你一周的饮食结构。</a:t>
            </a:r>
          </a:p>
          <a:p>
            <a:pPr algn="l">
              <a:lnSpc>
                <a:spcPct val="132000"/>
              </a:lnSpc>
              <a:spcAft>
                <a:spcPts val="1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·  学习建构（Lessons 3-4）：结合语法与语篇，归纳健康饮食的表达与原则。</a:t>
            </a:r>
          </a:p>
          <a:p>
            <a:pPr algn="l">
              <a:lnSpc>
                <a:spcPct val="132000"/>
              </a:lnSpc>
              <a:spcAft>
                <a:spcPts val="1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·  创作传播（Lessons 5-6）：制作健康饮食海报 / 信息图，向同学倡议“Eat Well”。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直击中考 | 食物与饮食听力实战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100" b="1" i="0">
                <a:solidFill>
                  <a:srgbClr val="E2601A"/>
                </a:solidFill>
                <a:latin typeface="Microsoft YaHei"/>
                <a:ea typeface="Microsoft YaHei"/>
                <a:cs typeface="Microsoft YaHei"/>
              </a:rPr>
              <a:t>链接中考（示例模板）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听下面一段对话，回答第 1 小题。</a:t>
            </a:r>
          </a:p>
          <a:p>
            <a:pPr algn="l">
              <a:lnSpc>
                <a:spcPct val="132000"/>
              </a:lnSpc>
              <a:spcAft>
                <a:spcPts val="12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What does the boy want to drink?</a:t>
            </a:r>
          </a:p>
          <a:p>
            <a:pPr algn="l">
              <a:lnSpc>
                <a:spcPct val="132000"/>
              </a:lnSpc>
              <a:spcAft>
                <a:spcPts val="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    A. Milk</a:t>
            </a:r>
          </a:p>
          <a:p>
            <a:pPr algn="l">
              <a:lnSpc>
                <a:spcPct val="132000"/>
              </a:lnSpc>
              <a:spcAft>
                <a:spcPts val="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    B. Juice</a:t>
            </a:r>
          </a:p>
          <a:p>
            <a:pPr algn="l">
              <a:lnSpc>
                <a:spcPct val="132000"/>
              </a:lnSpc>
              <a:spcAft>
                <a:spcPts val="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    C. Water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（示例模板，请替换为真实中考真题并标注年份 + 省份）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quarter" idx="11"/>
          </p:nvPr>
        </p:nvSpPr>
        <p:spPr/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听力解析  Script &amp; Key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000"/>
              </a:spcAft>
              <a:buNone/>
            </a:pPr>
            <a:r>
              <a:rPr sz="2000" b="1" i="0">
                <a:solidFill>
                  <a:srgbClr val="E2601A"/>
                </a:solidFill>
                <a:latin typeface="Microsoft YaHei"/>
                <a:ea typeface="Microsoft YaHei"/>
                <a:cs typeface="Microsoft YaHei"/>
              </a:rPr>
              <a:t>听力原文 Script</a:t>
            </a:r>
          </a:p>
          <a:p>
            <a:pPr algn="l">
              <a:lnSpc>
                <a:spcPct val="132000"/>
              </a:lnSpc>
              <a:spcAft>
                <a:spcPts val="6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—Would you like something to drink?  —Yes, a glass of juice, please.</a:t>
            </a:r>
          </a:p>
        </p:txBody>
      </p:sp>
      <p:sp>
        <p:nvSpPr>
          <p:cNvPr id="4" name="REVEAL_ANSWER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8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答题技巧</a:t>
            </a:r>
          </a:p>
          <a:p>
            <a:pPr algn="l">
              <a:lnSpc>
                <a:spcPct val="132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听前圈出关键词 drink，注意区分 milk / juice / water。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秘籍只招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·  AI 膳食分析：拍照 / 记录饮食，用 AI 工具生成营养结构与可视化报告。</a:t>
            </a:r>
          </a:p>
          <a:p>
            <a:pPr algn="l">
              <a:lnSpc>
                <a:spcPct val="132000"/>
              </a:lnSpc>
              <a:spcAft>
                <a:spcPts val="1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·  数据说话：用统计图表（数学）分析三餐占比，找出不均衡之处。</a:t>
            </a:r>
          </a:p>
          <a:p>
            <a:pPr algn="l">
              <a:lnSpc>
                <a:spcPct val="132000"/>
              </a:lnSpc>
              <a:spcAft>
                <a:spcPts val="1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·  健康海报（美术）：把“膳食宝塔”画成信息图，更易传播与倡导。</a:t>
            </a:r>
          </a:p>
          <a:p>
            <a:pPr algn="l">
              <a:lnSpc>
                <a:spcPct val="132000"/>
              </a:lnSpc>
              <a:spcAft>
                <a:spcPts val="1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·  跨科融合：生物讲营养、道法讲责任，做有温度的倡导者。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课后作业  Homework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2000"/>
              </a:spcAft>
              <a:buNone/>
            </a:pPr>
            <a:r>
              <a:rPr sz="25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1.  反思日志：记录今天的三餐，用英语标注可数 / 不可数名词。</a:t>
            </a:r>
          </a:p>
          <a:p>
            <a:pPr algn="l">
              <a:lnSpc>
                <a:spcPct val="132000"/>
              </a:lnSpc>
              <a:spcAft>
                <a:spcPts val="2000"/>
              </a:spcAft>
              <a:buNone/>
            </a:pPr>
            <a:r>
              <a:rPr sz="25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2.  制定个人“一周健康饮食改善计划”（项目产出初稿）。</a:t>
            </a:r>
          </a:p>
          <a:p>
            <a:pPr algn="l">
              <a:lnSpc>
                <a:spcPct val="132000"/>
              </a:lnSpc>
              <a:spcAft>
                <a:spcPts val="2000"/>
              </a:spcAft>
              <a:buNone/>
            </a:pPr>
            <a:r>
              <a:rPr sz="25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3.  小组合作：用 AI 图表工具生成家庭饮食结构图，下节课分享。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46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Eat well, live well.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ctr">
              <a:lnSpc>
                <a:spcPct val="132000"/>
              </a:lnSpc>
              <a:spcAft>
                <a:spcPts val="800"/>
              </a:spcAft>
              <a:buNone/>
            </a:pPr>
            <a:r>
              <a:rPr sz="3000" b="1" i="0">
                <a:solidFill>
                  <a:srgbClr val="E2601A"/>
                </a:solidFill>
                <a:latin typeface="Microsoft YaHei"/>
                <a:ea typeface="Microsoft YaHei"/>
                <a:cs typeface="Microsoft YaHei"/>
              </a:rPr>
              <a:t>Be a Healthy Eating Advocate!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46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Thanks for listening!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ctr">
              <a:lnSpc>
                <a:spcPct val="132000"/>
              </a:lnSpc>
              <a:spcAft>
                <a:spcPts val="800"/>
              </a:spcAft>
              <a:buNone/>
            </a:pPr>
            <a:r>
              <a:rPr sz="22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Eat Well  ·  健康饮食   |   FannyWu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</Words>
  <Application>Microsoft Office PowerPoint</Application>
  <PresentationFormat>宽屏</PresentationFormat>
  <Paragraphs>108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等线</vt:lpstr>
      <vt:lpstr>等线 Light</vt:lpstr>
      <vt:lpstr>Microsoft YaHei</vt:lpstr>
      <vt:lpstr>Arial</vt:lpstr>
      <vt:lpstr>Segoe UI</vt:lpstr>
      <vt:lpstr>Office 主题​​</vt:lpstr>
      <vt:lpstr>Eat Well!</vt:lpstr>
      <vt:lpstr>学习目标  Learning Objectives</vt:lpstr>
      <vt:lpstr>话题导入  Lead-in</vt:lpstr>
      <vt:lpstr>Task 1  ·  核心食物与饮品词汇库（语篇一）</vt:lpstr>
      <vt:lpstr>Brain storm</vt:lpstr>
      <vt:lpstr>Let's read</vt:lpstr>
      <vt:lpstr>Culture Link  ·  文化链接</vt:lpstr>
      <vt:lpstr>Task 2  ·  Ordering food（食堂选餐 / 餐厅点餐）</vt:lpstr>
      <vt:lpstr>功能表达  Useful Expressions</vt:lpstr>
      <vt:lpstr>Task 3  ·  Be a Healthy Eating Advocate（项目式）</vt:lpstr>
      <vt:lpstr>直击中考 | 食物与饮食听力实战</vt:lpstr>
      <vt:lpstr>听力解析  Script &amp; Key</vt:lpstr>
      <vt:lpstr>秘籍只招</vt:lpstr>
      <vt:lpstr>课后作业  Homework</vt:lpstr>
      <vt:lpstr>Eat well, live well.</vt:lpstr>
      <vt:lpstr>Thanks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Eat Well!</dc:title>
  <dc:creator>user</dc:creator>
  <cp:lastModifiedBy>user</cp:lastModifiedBy>
  <cp:revision>2</cp:revision>
  <dcterms:created xsi:type="dcterms:W3CDTF">2026-08-09T13:30:02Z</dcterms:created>
  <dcterms:modified xsi:type="dcterms:W3CDTF">2026-08-09T13:33:19Z</dcterms:modified>
</cp:coreProperties>
</file>